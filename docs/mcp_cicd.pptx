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486400" cy="5143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472113" y="0"/>
            <a:ext cx="14288" cy="51435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942975"/>
            <a:ext cx="5057775" cy="19202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294" b="1" spc="-2" kern="0" dirty="0">
                <a:solidFill>
                  <a:srgbClr val="1A1A1A"/>
                </a:solidFill>
              </a:rPr>
              <a:t>Empowering</a:t>
            </a:r>
            <a:pPr algn="l" indent="0" marL="0">
              <a:lnSpc>
                <a:spcPts val="3800"/>
              </a:lnSpc>
              <a:buNone/>
            </a:pPr>
            <a:r>
              <a:rPr lang="en-US" sz="3294" b="1" spc="-2" kern="0" dirty="0">
                <a:solidFill>
                  <a:srgbClr val="1A1A1A"/>
                </a:solidFill>
              </a:rPr>
              <a:t>
</a:t>
            </a:r>
            <a:pPr algn="l" indent="0" marL="0">
              <a:lnSpc>
                <a:spcPts val="3800"/>
              </a:lnSpc>
              <a:buNone/>
            </a:pPr>
            <a:r>
              <a:rPr lang="en-US" sz="3294" b="1" spc="-2" kern="0" dirty="0">
                <a:solidFill>
                  <a:srgbClr val="1A1A1A"/>
                </a:solidFill>
              </a:rPr>
              <a:t>Developers with</a:t>
            </a:r>
            <a:pPr algn="l" indent="0" marL="0">
              <a:lnSpc>
                <a:spcPts val="3800"/>
              </a:lnSpc>
              <a:buNone/>
            </a:pPr>
            <a:r>
              <a:rPr lang="en-US" sz="3294" b="1" spc="-2" kern="0" dirty="0">
                <a:solidFill>
                  <a:srgbClr val="1A1A1A"/>
                </a:solidFill>
              </a:rPr>
              <a:t>
</a:t>
            </a:r>
            <a:pPr algn="l" indent="0" marL="0">
              <a:lnSpc>
                <a:spcPts val="3800"/>
              </a:lnSpc>
              <a:buNone/>
            </a:pPr>
            <a:r>
              <a:rPr lang="en-US" sz="3294" b="1" spc="-2" kern="0" dirty="0">
                <a:solidFill>
                  <a:srgbClr val="1A1A1A"/>
                </a:solidFill>
              </a:rPr>
              <a:t>the Model Context</a:t>
            </a:r>
            <a:pPr algn="l" indent="0" marL="0">
              <a:lnSpc>
                <a:spcPts val="3800"/>
              </a:lnSpc>
              <a:buNone/>
            </a:pPr>
            <a:r>
              <a:rPr lang="en-US" sz="3294" b="1" spc="-2" kern="0" dirty="0">
                <a:solidFill>
                  <a:srgbClr val="1A1A1A"/>
                </a:solidFill>
              </a:rPr>
              <a:t>
</a:t>
            </a:r>
            <a:pPr algn="l" indent="0" marL="0">
              <a:lnSpc>
                <a:spcPts val="3800"/>
              </a:lnSpc>
              <a:buNone/>
            </a:pPr>
            <a:r>
              <a:rPr lang="en-US" sz="3294" b="1" spc="-2" kern="0" dirty="0">
                <a:solidFill>
                  <a:srgbClr val="1A1A1A"/>
                </a:solidFill>
              </a:rPr>
              <a:t>Protocol</a:t>
            </a:r>
            <a:endParaRPr lang="en-US" sz="3294" dirty="0"/>
          </a:p>
        </p:txBody>
      </p:sp>
      <p:sp>
        <p:nvSpPr>
          <p:cNvPr id="6" name="Text 3"/>
          <p:cNvSpPr/>
          <p:nvPr/>
        </p:nvSpPr>
        <p:spPr>
          <a:xfrm>
            <a:off x="428625" y="3006068"/>
            <a:ext cx="4286250" cy="6250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052CC"/>
                </a:solidFill>
              </a:rPr>
              <a:t>Intelligent Knowledge Search and CI/CD Database Querying</a:t>
            </a:r>
            <a:endParaRPr lang="en-US" sz="1602" dirty="0"/>
          </a:p>
        </p:txBody>
      </p:sp>
      <p:sp>
        <p:nvSpPr>
          <p:cNvPr id="7" name="Text 4"/>
          <p:cNvSpPr/>
          <p:nvPr/>
        </p:nvSpPr>
        <p:spPr>
          <a:xfrm>
            <a:off x="428625" y="4611291"/>
            <a:ext cx="162405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333333"/>
                </a:solidFill>
              </a:rPr>
              <a:t>Technical Presentation</a:t>
            </a:r>
            <a:endParaRPr lang="en-US" sz="987" dirty="0"/>
          </a:p>
        </p:txBody>
      </p:sp>
      <p:sp>
        <p:nvSpPr>
          <p:cNvPr id="8" name="Text 5"/>
          <p:cNvSpPr/>
          <p:nvPr/>
        </p:nvSpPr>
        <p:spPr>
          <a:xfrm>
            <a:off x="428625" y="4805958"/>
            <a:ext cx="505777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January 2026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486400" y="0"/>
            <a:ext cx="36576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7888" y="1817694"/>
            <a:ext cx="2714625" cy="1508113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1253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MCP Bridges the Gap Between AI and Proprietary Data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571500" y="1312664"/>
            <a:ext cx="357187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52CC"/>
                </a:solidFill>
              </a:rPr>
              <a:t>The Problem: Data Isolation</a:t>
            </a:r>
            <a:endParaRPr lang="en-US" sz="1193" dirty="0"/>
          </a:p>
        </p:txBody>
      </p:sp>
      <p:sp>
        <p:nvSpPr>
          <p:cNvPr id="5" name="Text 2"/>
          <p:cNvSpPr/>
          <p:nvPr/>
        </p:nvSpPr>
        <p:spPr>
          <a:xfrm>
            <a:off x="571500" y="1653778"/>
            <a:ext cx="3571875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just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Modern AI assistants are powerful but often operate in a vacuum, lacking access to the real-time, internal data that defines a developer's daily work. This isolation limits their effectiveness in specialized environments.</a:t>
            </a:r>
            <a:endParaRPr lang="en-US" sz="942" dirty="0"/>
          </a:p>
        </p:txBody>
      </p:sp>
      <p:sp>
        <p:nvSpPr>
          <p:cNvPr id="6" name="Text 3"/>
          <p:cNvSpPr/>
          <p:nvPr/>
        </p:nvSpPr>
        <p:spPr>
          <a:xfrm>
            <a:off x="571500" y="2655243"/>
            <a:ext cx="357187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52CC"/>
                </a:solidFill>
              </a:rPr>
              <a:t>The Solution: Standardized Bridge</a:t>
            </a:r>
            <a:endParaRPr lang="en-US" sz="1193" dirty="0"/>
          </a:p>
        </p:txBody>
      </p:sp>
      <p:sp>
        <p:nvSpPr>
          <p:cNvPr id="7" name="Text 4"/>
          <p:cNvSpPr/>
          <p:nvPr/>
        </p:nvSpPr>
        <p:spPr>
          <a:xfrm>
            <a:off x="571500" y="2996357"/>
            <a:ext cx="3571875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just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The Model Context Protocol solves this by enabling secure, standardized communication between the IDE and specialized local or remote services. This ensures that data stays within controlled environments.</a:t>
            </a:r>
            <a:endParaRPr lang="en-US" sz="942" dirty="0"/>
          </a:p>
        </p:txBody>
      </p:sp>
      <p:sp>
        <p:nvSpPr>
          <p:cNvPr id="8" name="Shape 5"/>
          <p:cNvSpPr/>
          <p:nvPr/>
        </p:nvSpPr>
        <p:spPr>
          <a:xfrm>
            <a:off x="571500" y="4033540"/>
            <a:ext cx="3571875" cy="85725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Text 6"/>
          <p:cNvSpPr/>
          <p:nvPr/>
        </p:nvSpPr>
        <p:spPr>
          <a:xfrm>
            <a:off x="714375" y="4176415"/>
            <a:ext cx="3286125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784" b="1" dirty="0">
                <a:solidFill>
                  <a:srgbClr val="F2F2F2"/>
                </a:solidFill>
              </a:rPr>
              <a:t>Key Insight: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F2F2F2"/>
                </a:solidFill>
              </a:rPr>
              <a:t> MCP provides the specific context AI needs to 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F2F2F2"/>
                </a:solidFill>
              </a:rPr>
              <a:t>be truly effective, without compromising security or data </a:t>
            </a:r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F2F2F2"/>
                </a:solidFill>
              </a:rPr>
              <a:t>sovereignty.</a:t>
            </a:r>
            <a:endParaRPr lang="en-US" sz="784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9156" y="1169789"/>
            <a:ext cx="3929063" cy="321468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1253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A Unified Ecosystem for Developer Intelligence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571500" y="1169789"/>
            <a:ext cx="71437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The ecosystem consists of three interconnected components that work in harmony to provide a comprehensive intelligence layer, creating a single point of entry for all developer queries.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571500" y="1912739"/>
            <a:ext cx="8001000" cy="300394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3"/>
          <p:cNvSpPr/>
          <p:nvPr/>
        </p:nvSpPr>
        <p:spPr>
          <a:xfrm>
            <a:off x="571500" y="1912739"/>
            <a:ext cx="1526391" cy="42862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7" name="Text 4"/>
          <p:cNvSpPr/>
          <p:nvPr/>
        </p:nvSpPr>
        <p:spPr>
          <a:xfrm>
            <a:off x="571500" y="1912739"/>
            <a:ext cx="1526391" cy="428625"/>
          </a:xfrm>
          <a:prstGeom prst="rect">
            <a:avLst/>
          </a:prstGeom>
          <a:noFill/>
          <a:ln/>
        </p:spPr>
        <p:txBody>
          <a:bodyPr wrap="square" lIns="170053" tIns="170053" rIns="0" bIns="0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F2F2F2"/>
                </a:solidFill>
              </a:rPr>
              <a:t>Component</a:t>
            </a:r>
            <a:endParaRPr lang="en-US" sz="885" dirty="0"/>
          </a:p>
        </p:txBody>
      </p:sp>
      <p:sp>
        <p:nvSpPr>
          <p:cNvPr id="8" name="Shape 5"/>
          <p:cNvSpPr/>
          <p:nvPr/>
        </p:nvSpPr>
        <p:spPr>
          <a:xfrm>
            <a:off x="2097891" y="1912739"/>
            <a:ext cx="1295726" cy="42862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9" name="Text 6"/>
          <p:cNvSpPr/>
          <p:nvPr/>
        </p:nvSpPr>
        <p:spPr>
          <a:xfrm>
            <a:off x="2097891" y="1912739"/>
            <a:ext cx="1295726" cy="428625"/>
          </a:xfrm>
          <a:prstGeom prst="rect">
            <a:avLst/>
          </a:prstGeom>
          <a:noFill/>
          <a:ln/>
        </p:spPr>
        <p:txBody>
          <a:bodyPr wrap="square" lIns="170053" tIns="170053" rIns="0" bIns="0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F2F2F2"/>
                </a:solidFill>
              </a:rPr>
              <a:t>Role</a:t>
            </a:r>
            <a:endParaRPr lang="en-US" sz="885" dirty="0"/>
          </a:p>
        </p:txBody>
      </p:sp>
      <p:sp>
        <p:nvSpPr>
          <p:cNvPr id="10" name="Shape 7"/>
          <p:cNvSpPr/>
          <p:nvPr/>
        </p:nvSpPr>
        <p:spPr>
          <a:xfrm>
            <a:off x="3393616" y="1912739"/>
            <a:ext cx="5178884" cy="428625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1" name="Text 8"/>
          <p:cNvSpPr/>
          <p:nvPr/>
        </p:nvSpPr>
        <p:spPr>
          <a:xfrm>
            <a:off x="3393616" y="1912739"/>
            <a:ext cx="5178884" cy="428625"/>
          </a:xfrm>
          <a:prstGeom prst="rect">
            <a:avLst/>
          </a:prstGeom>
          <a:noFill/>
          <a:ln/>
        </p:spPr>
        <p:txBody>
          <a:bodyPr wrap="square" lIns="170053" tIns="170053" rIns="0" bIns="0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spc="1" kern="0" dirty="0">
                <a:solidFill>
                  <a:srgbClr val="F2F2F2"/>
                </a:solidFill>
              </a:rPr>
              <a:t>Primary Function</a:t>
            </a:r>
            <a:endParaRPr lang="en-US" sz="885" dirty="0"/>
          </a:p>
        </p:txBody>
      </p:sp>
      <p:sp>
        <p:nvSpPr>
          <p:cNvPr id="12" name="Text 9"/>
          <p:cNvSpPr/>
          <p:nvPr/>
        </p:nvSpPr>
        <p:spPr>
          <a:xfrm>
            <a:off x="571500" y="2341364"/>
            <a:ext cx="1526391" cy="857250"/>
          </a:xfrm>
          <a:prstGeom prst="rect">
            <a:avLst/>
          </a:prstGeom>
          <a:noFill/>
          <a:ln/>
        </p:spPr>
        <p:txBody>
          <a:bodyPr wrap="square" lIns="170053" tIns="212598" rIns="170053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052CC"/>
                </a:solidFill>
              </a:rPr>
              <a:t>kbsearch-mcp-server</a:t>
            </a:r>
            <a:endParaRPr lang="en-US" sz="885" dirty="0"/>
          </a:p>
        </p:txBody>
      </p:sp>
      <p:sp>
        <p:nvSpPr>
          <p:cNvPr id="13" name="Text 10"/>
          <p:cNvSpPr/>
          <p:nvPr/>
        </p:nvSpPr>
        <p:spPr>
          <a:xfrm>
            <a:off x="2097891" y="2341364"/>
            <a:ext cx="1295726" cy="857250"/>
          </a:xfrm>
          <a:prstGeom prst="rect">
            <a:avLst/>
          </a:prstGeom>
          <a:noFill/>
          <a:ln/>
        </p:spPr>
        <p:txBody>
          <a:bodyPr wrap="square" lIns="170053" tIns="212598" rIns="170053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Central Hub</a:t>
            </a:r>
            <a:endParaRPr lang="en-US" sz="942" dirty="0"/>
          </a:p>
        </p:txBody>
      </p:sp>
      <p:sp>
        <p:nvSpPr>
          <p:cNvPr id="14" name="Text 11"/>
          <p:cNvSpPr/>
          <p:nvPr/>
        </p:nvSpPr>
        <p:spPr>
          <a:xfrm>
            <a:off x="3393616" y="2341364"/>
            <a:ext cx="5178884" cy="857250"/>
          </a:xfrm>
          <a:prstGeom prst="rect">
            <a:avLst/>
          </a:prstGeom>
          <a:noFill/>
          <a:ln/>
        </p:spPr>
        <p:txBody>
          <a:bodyPr wrap="square" lIns="170053" tIns="212598" rIns="170053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Orchestrates tool registration and editor integration across VS Code, Cursor, and IntelliJ.</a:t>
            </a:r>
            <a:endParaRPr lang="en-US" sz="942" dirty="0"/>
          </a:p>
        </p:txBody>
      </p:sp>
      <p:sp>
        <p:nvSpPr>
          <p:cNvPr id="15" name="Shape 12"/>
          <p:cNvSpPr/>
          <p:nvPr/>
        </p:nvSpPr>
        <p:spPr>
          <a:xfrm>
            <a:off x="571500" y="3198614"/>
            <a:ext cx="8001000" cy="85725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16" name="Text 13"/>
          <p:cNvSpPr/>
          <p:nvPr/>
        </p:nvSpPr>
        <p:spPr>
          <a:xfrm>
            <a:off x="571500" y="3198614"/>
            <a:ext cx="1526391" cy="857250"/>
          </a:xfrm>
          <a:prstGeom prst="rect">
            <a:avLst/>
          </a:prstGeom>
          <a:noFill/>
          <a:ln/>
        </p:spPr>
        <p:txBody>
          <a:bodyPr wrap="square" lIns="170053" tIns="212598" rIns="170053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052CC"/>
                </a:solidFill>
              </a:rPr>
              <a:t>rag-mcp</a:t>
            </a:r>
            <a:endParaRPr lang="en-US" sz="885" dirty="0"/>
          </a:p>
        </p:txBody>
      </p:sp>
      <p:sp>
        <p:nvSpPr>
          <p:cNvPr id="17" name="Text 14"/>
          <p:cNvSpPr/>
          <p:nvPr/>
        </p:nvSpPr>
        <p:spPr>
          <a:xfrm>
            <a:off x="2097891" y="3198614"/>
            <a:ext cx="1295726" cy="857250"/>
          </a:xfrm>
          <a:prstGeom prst="rect">
            <a:avLst/>
          </a:prstGeom>
          <a:noFill/>
          <a:ln/>
        </p:spPr>
        <p:txBody>
          <a:bodyPr wrap="square" lIns="170053" tIns="212598" rIns="170053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Knowledge Expert</a:t>
            </a:r>
            <a:endParaRPr lang="en-US" sz="942" dirty="0"/>
          </a:p>
        </p:txBody>
      </p:sp>
      <p:sp>
        <p:nvSpPr>
          <p:cNvPr id="18" name="Text 15"/>
          <p:cNvSpPr/>
          <p:nvPr/>
        </p:nvSpPr>
        <p:spPr>
          <a:xfrm>
            <a:off x="3393616" y="3198614"/>
            <a:ext cx="5178884" cy="857250"/>
          </a:xfrm>
          <a:prstGeom prst="rect">
            <a:avLst/>
          </a:prstGeom>
          <a:noFill/>
          <a:ln/>
        </p:spPr>
        <p:txBody>
          <a:bodyPr wrap="square" lIns="170053" tIns="212598" rIns="170053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Performs high-performance RAG-based search across internal documentation and technical wikis.</a:t>
            </a:r>
            <a:endParaRPr lang="en-US" sz="942" dirty="0"/>
          </a:p>
        </p:txBody>
      </p:sp>
      <p:sp>
        <p:nvSpPr>
          <p:cNvPr id="19" name="Text 16"/>
          <p:cNvSpPr/>
          <p:nvPr/>
        </p:nvSpPr>
        <p:spPr>
          <a:xfrm>
            <a:off x="571500" y="4055864"/>
            <a:ext cx="1526391" cy="857250"/>
          </a:xfrm>
          <a:prstGeom prst="rect">
            <a:avLst/>
          </a:prstGeom>
          <a:noFill/>
          <a:ln/>
        </p:spPr>
        <p:txBody>
          <a:bodyPr wrap="square" lIns="170053" tIns="212598" rIns="170053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052CC"/>
                </a:solidFill>
              </a:rPr>
              <a:t>nl2sql-mcp</a:t>
            </a:r>
            <a:endParaRPr lang="en-US" sz="885" dirty="0"/>
          </a:p>
        </p:txBody>
      </p:sp>
      <p:sp>
        <p:nvSpPr>
          <p:cNvPr id="20" name="Text 17"/>
          <p:cNvSpPr/>
          <p:nvPr/>
        </p:nvSpPr>
        <p:spPr>
          <a:xfrm>
            <a:off x="2097891" y="4055864"/>
            <a:ext cx="1295726" cy="857250"/>
          </a:xfrm>
          <a:prstGeom prst="rect">
            <a:avLst/>
          </a:prstGeom>
          <a:noFill/>
          <a:ln/>
        </p:spPr>
        <p:txBody>
          <a:bodyPr wrap="square" lIns="170053" tIns="212598" rIns="170053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Data Analyst</a:t>
            </a:r>
            <a:endParaRPr lang="en-US" sz="942" dirty="0"/>
          </a:p>
        </p:txBody>
      </p:sp>
      <p:sp>
        <p:nvSpPr>
          <p:cNvPr id="21" name="Text 18"/>
          <p:cNvSpPr/>
          <p:nvPr/>
        </p:nvSpPr>
        <p:spPr>
          <a:xfrm>
            <a:off x="3393616" y="4055864"/>
            <a:ext cx="5178884" cy="857250"/>
          </a:xfrm>
          <a:prstGeom prst="rect">
            <a:avLst/>
          </a:prstGeom>
          <a:noFill/>
          <a:ln/>
        </p:spPr>
        <p:txBody>
          <a:bodyPr wrap="square" lIns="170053" tIns="212598" rIns="170053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Converts natural language questions into optimized SQL queries for CI/CD metrics and history.</a:t>
            </a:r>
            <a:endParaRPr lang="en-US" sz="942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1253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kbsearch-mcp-server Orchestrates the AI Workflow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571500" y="1305520"/>
            <a:ext cx="32146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spc="1" kern="0" dirty="0">
                <a:solidFill>
                  <a:srgbClr val="0052CC"/>
                </a:solidFill>
              </a:rPr>
              <a:t>Tool Registration</a:t>
            </a:r>
            <a:endParaRPr lang="en-US" sz="1090" dirty="0"/>
          </a:p>
        </p:txBody>
      </p:sp>
      <p:sp>
        <p:nvSpPr>
          <p:cNvPr id="5" name="Text 2"/>
          <p:cNvSpPr/>
          <p:nvPr/>
        </p:nvSpPr>
        <p:spPr>
          <a:xfrm>
            <a:off x="571500" y="1591270"/>
            <a:ext cx="3214688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Acts as the primary interface for the AI assistant, handling the registration of specialized tools like search_knowledge_base and query_cicd.</a:t>
            </a:r>
            <a:endParaRPr lang="en-US" sz="942" dirty="0"/>
          </a:p>
        </p:txBody>
      </p:sp>
      <p:sp>
        <p:nvSpPr>
          <p:cNvPr id="6" name="Text 3"/>
          <p:cNvSpPr/>
          <p:nvPr/>
        </p:nvSpPr>
        <p:spPr>
          <a:xfrm>
            <a:off x="571500" y="2555677"/>
            <a:ext cx="32146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spc="1" kern="0" dirty="0">
                <a:solidFill>
                  <a:srgbClr val="0052CC"/>
                </a:solidFill>
              </a:rPr>
              <a:t>Multi-Editor Support</a:t>
            </a:r>
            <a:endParaRPr lang="en-US" sz="1090" dirty="0"/>
          </a:p>
        </p:txBody>
      </p:sp>
      <p:sp>
        <p:nvSpPr>
          <p:cNvPr id="7" name="Text 4"/>
          <p:cNvSpPr/>
          <p:nvPr/>
        </p:nvSpPr>
        <p:spPr>
          <a:xfrm>
            <a:off x="571500" y="2841427"/>
            <a:ext cx="3214688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Provides a consistent experience across various IDEs including VS Code, Cursor, and IntelliJ through standardized MCP endpoints.</a:t>
            </a:r>
            <a:endParaRPr lang="en-US" sz="942" dirty="0"/>
          </a:p>
        </p:txBody>
      </p:sp>
      <p:sp>
        <p:nvSpPr>
          <p:cNvPr id="8" name="Text 5"/>
          <p:cNvSpPr/>
          <p:nvPr/>
        </p:nvSpPr>
        <p:spPr>
          <a:xfrm>
            <a:off x="571500" y="3805833"/>
            <a:ext cx="3214688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spc="1" kern="0" dirty="0">
                <a:solidFill>
                  <a:srgbClr val="0052CC"/>
                </a:solidFill>
              </a:rPr>
              <a:t>Seamless Workflow</a:t>
            </a:r>
            <a:endParaRPr lang="en-US" sz="1090" dirty="0"/>
          </a:p>
        </p:txBody>
      </p:sp>
      <p:sp>
        <p:nvSpPr>
          <p:cNvPr id="9" name="Text 6"/>
          <p:cNvSpPr/>
          <p:nvPr/>
        </p:nvSpPr>
        <p:spPr>
          <a:xfrm>
            <a:off x="571500" y="4091583"/>
            <a:ext cx="3214688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Simplifies the integration of complex backend services into the developer's chat interface, ensuring a single point of entry for all queries.</a:t>
            </a:r>
            <a:endParaRPr lang="en-US" sz="942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1969" y="1169789"/>
            <a:ext cx="4286250" cy="2857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1253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rag-mcp Delivers Intelligent Knowledge Retrieval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571500" y="1384102"/>
            <a:ext cx="357187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52CC"/>
                </a:solidFill>
              </a:rPr>
              <a:t>Interactive Knowledge Base</a:t>
            </a:r>
            <a:endParaRPr lang="en-US" sz="1090" dirty="0"/>
          </a:p>
        </p:txBody>
      </p:sp>
      <p:sp>
        <p:nvSpPr>
          <p:cNvPr id="5" name="Text 2"/>
          <p:cNvSpPr/>
          <p:nvPr/>
        </p:nvSpPr>
        <p:spPr>
          <a:xfrm>
            <a:off x="571500" y="1669852"/>
            <a:ext cx="3571875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just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The rag-mcp service transforms static documentation into an interactive resource. By automating the ingestion of technical content from URLs, it ensures that the AI has the most up-to-date context available.</a:t>
            </a:r>
            <a:endParaRPr lang="en-US" sz="942" dirty="0"/>
          </a:p>
        </p:txBody>
      </p:sp>
      <p:sp>
        <p:nvSpPr>
          <p:cNvPr id="6" name="Text 3"/>
          <p:cNvSpPr/>
          <p:nvPr/>
        </p:nvSpPr>
        <p:spPr>
          <a:xfrm>
            <a:off x="571500" y="2707035"/>
            <a:ext cx="357187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0052CC"/>
                </a:solidFill>
              </a:rPr>
              <a:t>Instant Technical Answers</a:t>
            </a:r>
            <a:endParaRPr lang="en-US" sz="1090" dirty="0"/>
          </a:p>
        </p:txBody>
      </p:sp>
      <p:sp>
        <p:nvSpPr>
          <p:cNvPr id="7" name="Text 4"/>
          <p:cNvSpPr/>
          <p:nvPr/>
        </p:nvSpPr>
        <p:spPr>
          <a:xfrm>
            <a:off x="571500" y="2992785"/>
            <a:ext cx="3571875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just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Eliminate manual searching through wikis and READMEs. Developers can ask "How-to" and "What-is" questions directly in their IDE, receiving precise answers grounded in their own documentation.</a:t>
            </a:r>
            <a:endParaRPr lang="en-US" sz="942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0" y="1169789"/>
            <a:ext cx="4143375" cy="2857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357188"/>
            <a:ext cx="8715375" cy="31253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Advanced RAG Architecture Supports Diverse Needs</a:t>
            </a:r>
            <a:endParaRPr lang="en-US" sz="1602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884039"/>
            <a:ext cx="4643438" cy="28575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428625" y="3812977"/>
            <a:ext cx="464343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i="1" dirty="0">
                <a:solidFill>
                  <a:srgbClr val="666666"/>
                </a:solidFill>
              </a:rPr>
              <a:t>Figure 1: End-to-end RAG pipeline from ingestion to contextual response.</a:t>
            </a:r>
            <a:endParaRPr lang="en-US" sz="727" dirty="0"/>
          </a:p>
        </p:txBody>
      </p:sp>
      <p:sp>
        <p:nvSpPr>
          <p:cNvPr id="6" name="Text 2"/>
          <p:cNvSpPr/>
          <p:nvPr/>
        </p:nvSpPr>
        <p:spPr>
          <a:xfrm>
            <a:off x="5357813" y="1026914"/>
            <a:ext cx="335756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0052CC"/>
                </a:solidFill>
              </a:rPr>
              <a:t>Ingestion Pipeline</a:t>
            </a:r>
            <a:endParaRPr lang="en-US" sz="987" dirty="0"/>
          </a:p>
        </p:txBody>
      </p:sp>
      <p:sp>
        <p:nvSpPr>
          <p:cNvPr id="7" name="Text 3"/>
          <p:cNvSpPr/>
          <p:nvPr/>
        </p:nvSpPr>
        <p:spPr>
          <a:xfrm>
            <a:off x="5486400" y="1300163"/>
            <a:ext cx="119638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333333"/>
                </a:solidFill>
              </a:rPr>
              <a:t>Automated Scrapers:</a:t>
            </a:r>
            <a:endParaRPr lang="en-US" sz="784" dirty="0"/>
          </a:p>
        </p:txBody>
      </p:sp>
      <p:sp>
        <p:nvSpPr>
          <p:cNvPr id="8" name="Text 4"/>
          <p:cNvSpPr/>
          <p:nvPr/>
        </p:nvSpPr>
        <p:spPr>
          <a:xfrm>
            <a:off x="5486400" y="1300163"/>
            <a:ext cx="2892828" cy="326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Extracts content from technical documentation and wikis.</a:t>
            </a:r>
            <a:endParaRPr lang="en-US" sz="834" dirty="0"/>
          </a:p>
        </p:txBody>
      </p:sp>
      <p:sp>
        <p:nvSpPr>
          <p:cNvPr id="9" name="Text 5"/>
          <p:cNvSpPr/>
          <p:nvPr/>
        </p:nvSpPr>
        <p:spPr>
          <a:xfrm>
            <a:off x="5486400" y="1728788"/>
            <a:ext cx="1143698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333333"/>
                </a:solidFill>
              </a:rPr>
              <a:t>Semantic Chunking:</a:t>
            </a:r>
            <a:endParaRPr lang="en-US" sz="784" dirty="0"/>
          </a:p>
        </p:txBody>
      </p:sp>
      <p:sp>
        <p:nvSpPr>
          <p:cNvPr id="10" name="Text 6"/>
          <p:cNvSpPr/>
          <p:nvPr/>
        </p:nvSpPr>
        <p:spPr>
          <a:xfrm>
            <a:off x="5486400" y="1728788"/>
            <a:ext cx="2995017" cy="326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Intelligent boundary detection for better context retention.</a:t>
            </a:r>
            <a:endParaRPr lang="en-US" sz="834" dirty="0"/>
          </a:p>
        </p:txBody>
      </p:sp>
      <p:sp>
        <p:nvSpPr>
          <p:cNvPr id="11" name="Text 7"/>
          <p:cNvSpPr/>
          <p:nvPr/>
        </p:nvSpPr>
        <p:spPr>
          <a:xfrm>
            <a:off x="5357813" y="2386013"/>
            <a:ext cx="335756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0052CC"/>
                </a:solidFill>
              </a:rPr>
              <a:t>Configuration Profiles</a:t>
            </a:r>
            <a:endParaRPr lang="en-US" sz="987" dirty="0"/>
          </a:p>
        </p:txBody>
      </p:sp>
      <p:sp>
        <p:nvSpPr>
          <p:cNvPr id="12" name="Text 8"/>
          <p:cNvSpPr/>
          <p:nvPr/>
        </p:nvSpPr>
        <p:spPr>
          <a:xfrm>
            <a:off x="5486400" y="2659261"/>
            <a:ext cx="1100026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333333"/>
                </a:solidFill>
              </a:rPr>
              <a:t>Versioned Settings:</a:t>
            </a:r>
            <a:endParaRPr lang="en-US" sz="784" dirty="0"/>
          </a:p>
        </p:txBody>
      </p:sp>
      <p:sp>
        <p:nvSpPr>
          <p:cNvPr id="13" name="Text 9"/>
          <p:cNvSpPr/>
          <p:nvPr/>
        </p:nvSpPr>
        <p:spPr>
          <a:xfrm>
            <a:off x="5486400" y="2659261"/>
            <a:ext cx="2873406" cy="326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Manage embedding models and retrieval parameters.</a:t>
            </a:r>
            <a:endParaRPr lang="en-US" sz="834" dirty="0"/>
          </a:p>
        </p:txBody>
      </p:sp>
      <p:sp>
        <p:nvSpPr>
          <p:cNvPr id="14" name="Text 10"/>
          <p:cNvSpPr/>
          <p:nvPr/>
        </p:nvSpPr>
        <p:spPr>
          <a:xfrm>
            <a:off x="5486400" y="3087886"/>
            <a:ext cx="78263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333333"/>
                </a:solidFill>
              </a:rPr>
              <a:t>Optimization:</a:t>
            </a:r>
            <a:endParaRPr lang="en-US" sz="784" dirty="0"/>
          </a:p>
        </p:txBody>
      </p:sp>
      <p:sp>
        <p:nvSpPr>
          <p:cNvPr id="15" name="Text 11"/>
          <p:cNvSpPr/>
          <p:nvPr/>
        </p:nvSpPr>
        <p:spPr>
          <a:xfrm>
            <a:off x="5486400" y="3087886"/>
            <a:ext cx="2800043" cy="326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Tailor strategies for accuracy, cost, or latency.</a:t>
            </a:r>
            <a:endParaRPr lang="en-US" sz="834" dirty="0"/>
          </a:p>
        </p:txBody>
      </p:sp>
      <p:sp>
        <p:nvSpPr>
          <p:cNvPr id="16" name="Text 12"/>
          <p:cNvSpPr/>
          <p:nvPr/>
        </p:nvSpPr>
        <p:spPr>
          <a:xfrm>
            <a:off x="5357813" y="3745111"/>
            <a:ext cx="335756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spc="1" kern="0" dirty="0">
                <a:solidFill>
                  <a:srgbClr val="0052CC"/>
                </a:solidFill>
              </a:rPr>
              <a:t>Provider Flexibility</a:t>
            </a:r>
            <a:endParaRPr lang="en-US" sz="987" dirty="0"/>
          </a:p>
        </p:txBody>
      </p:sp>
      <p:sp>
        <p:nvSpPr>
          <p:cNvPr id="17" name="Text 13"/>
          <p:cNvSpPr/>
          <p:nvPr/>
        </p:nvSpPr>
        <p:spPr>
          <a:xfrm>
            <a:off x="5486400" y="4018359"/>
            <a:ext cx="901257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784" b="1" dirty="0">
                <a:solidFill>
                  <a:srgbClr val="333333"/>
                </a:solidFill>
              </a:rPr>
              <a:t>Hybrid Support:</a:t>
            </a:r>
            <a:endParaRPr lang="en-US" sz="784" dirty="0"/>
          </a:p>
        </p:txBody>
      </p:sp>
      <p:sp>
        <p:nvSpPr>
          <p:cNvPr id="18" name="Text 14"/>
          <p:cNvSpPr/>
          <p:nvPr/>
        </p:nvSpPr>
        <p:spPr>
          <a:xfrm>
            <a:off x="5486400" y="4018359"/>
            <a:ext cx="3212064" cy="326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Local (Ollama) and Cloud (OpenAI, Gemini, Bedrock).</a:t>
            </a:r>
            <a:endParaRPr lang="en-US" sz="834" dirty="0"/>
          </a:p>
        </p:txBody>
      </p:sp>
      <p:sp>
        <p:nvSpPr>
          <p:cNvPr id="19" name="Shape 15"/>
          <p:cNvSpPr/>
          <p:nvPr/>
        </p:nvSpPr>
        <p:spPr>
          <a:xfrm>
            <a:off x="5357813" y="4929188"/>
            <a:ext cx="717752" cy="214313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20" name="Text 16"/>
          <p:cNvSpPr/>
          <p:nvPr/>
        </p:nvSpPr>
        <p:spPr>
          <a:xfrm>
            <a:off x="5357813" y="4929188"/>
            <a:ext cx="717752" cy="214313"/>
          </a:xfrm>
          <a:prstGeom prst="rect">
            <a:avLst/>
          </a:prstGeom>
          <a:noFill/>
          <a:ln/>
        </p:spPr>
        <p:txBody>
          <a:bodyPr wrap="square" lIns="85090" tIns="42545" rIns="8509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PostgreSQL</a:t>
            </a:r>
            <a:endParaRPr lang="en-US" sz="683" dirty="0"/>
          </a:p>
        </p:txBody>
      </p:sp>
      <p:sp>
        <p:nvSpPr>
          <p:cNvPr id="21" name="Shape 17"/>
          <p:cNvSpPr/>
          <p:nvPr/>
        </p:nvSpPr>
        <p:spPr>
          <a:xfrm>
            <a:off x="6418073" y="4929188"/>
            <a:ext cx="587657" cy="214313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22" name="Text 18"/>
          <p:cNvSpPr/>
          <p:nvPr/>
        </p:nvSpPr>
        <p:spPr>
          <a:xfrm>
            <a:off x="6418073" y="4929188"/>
            <a:ext cx="587657" cy="214313"/>
          </a:xfrm>
          <a:prstGeom prst="rect">
            <a:avLst/>
          </a:prstGeom>
          <a:noFill/>
          <a:ln/>
        </p:spPr>
        <p:txBody>
          <a:bodyPr wrap="square" lIns="85090" tIns="42545" rIns="8509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pgvector</a:t>
            </a:r>
            <a:endParaRPr lang="en-US" sz="683" dirty="0"/>
          </a:p>
        </p:txBody>
      </p:sp>
      <p:sp>
        <p:nvSpPr>
          <p:cNvPr id="23" name="Shape 19"/>
          <p:cNvSpPr/>
          <p:nvPr/>
        </p:nvSpPr>
        <p:spPr>
          <a:xfrm>
            <a:off x="7348240" y="4929188"/>
            <a:ext cx="522024" cy="214313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24" name="Text 20"/>
          <p:cNvSpPr/>
          <p:nvPr/>
        </p:nvSpPr>
        <p:spPr>
          <a:xfrm>
            <a:off x="7348240" y="4929188"/>
            <a:ext cx="522024" cy="214313"/>
          </a:xfrm>
          <a:prstGeom prst="rect">
            <a:avLst/>
          </a:prstGeom>
          <a:noFill/>
          <a:ln/>
        </p:spPr>
        <p:txBody>
          <a:bodyPr wrap="square" lIns="85090" tIns="42545" rIns="8509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FastAPI</a:t>
            </a:r>
            <a:endParaRPr lang="en-US" sz="683" dirty="0"/>
          </a:p>
        </p:txBody>
      </p:sp>
      <p:sp>
        <p:nvSpPr>
          <p:cNvPr id="25" name="Shape 21"/>
          <p:cNvSpPr/>
          <p:nvPr/>
        </p:nvSpPr>
        <p:spPr>
          <a:xfrm>
            <a:off x="8212773" y="4929188"/>
            <a:ext cx="502546" cy="214313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26" name="Text 22"/>
          <p:cNvSpPr/>
          <p:nvPr/>
        </p:nvSpPr>
        <p:spPr>
          <a:xfrm>
            <a:off x="8212773" y="4929188"/>
            <a:ext cx="502546" cy="214313"/>
          </a:xfrm>
          <a:prstGeom prst="rect">
            <a:avLst/>
          </a:prstGeom>
          <a:noFill/>
          <a:ln/>
        </p:spPr>
        <p:txBody>
          <a:bodyPr wrap="square" lIns="85090" tIns="42545" rIns="8509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1A1A1A"/>
                </a:solidFill>
              </a:rPr>
              <a:t>Ollama</a:t>
            </a:r>
            <a:endParaRPr lang="en-US" sz="683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1253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nl2sql-mcp Simplifies Complex Database Querying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571500" y="1312664"/>
            <a:ext cx="392906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52CC"/>
                </a:solidFill>
              </a:rPr>
              <a:t>The Challenge: Manual SQL Complexity</a:t>
            </a:r>
            <a:endParaRPr lang="en-US" sz="1193" dirty="0"/>
          </a:p>
        </p:txBody>
      </p:sp>
      <p:sp>
        <p:nvSpPr>
          <p:cNvPr id="5" name="Text 2"/>
          <p:cNvSpPr/>
          <p:nvPr/>
        </p:nvSpPr>
        <p:spPr>
          <a:xfrm>
            <a:off x="571500" y="1653778"/>
            <a:ext cx="3929063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Querying CI/CD databases for deployment metrics often requires writing complex SQL that is both time-consuming and error-prone for developers focused on delivery.</a:t>
            </a:r>
            <a:endParaRPr lang="en-US" sz="942" dirty="0"/>
          </a:p>
        </p:txBody>
      </p:sp>
      <p:sp>
        <p:nvSpPr>
          <p:cNvPr id="6" name="Text 3"/>
          <p:cNvSpPr/>
          <p:nvPr/>
        </p:nvSpPr>
        <p:spPr>
          <a:xfrm>
            <a:off x="571500" y="2449525"/>
            <a:ext cx="392906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52CC"/>
                </a:solidFill>
              </a:rPr>
              <a:t>The Solution: Natural Language Interface</a:t>
            </a:r>
            <a:endParaRPr lang="en-US" sz="1193" dirty="0"/>
          </a:p>
        </p:txBody>
      </p:sp>
      <p:sp>
        <p:nvSpPr>
          <p:cNvPr id="7" name="Shape 4"/>
          <p:cNvSpPr/>
          <p:nvPr/>
        </p:nvSpPr>
        <p:spPr>
          <a:xfrm>
            <a:off x="571500" y="2826358"/>
            <a:ext cx="214313" cy="21431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8" name="Text 5"/>
          <p:cNvSpPr/>
          <p:nvPr/>
        </p:nvSpPr>
        <p:spPr>
          <a:xfrm>
            <a:off x="571500" y="2826358"/>
            <a:ext cx="214313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2F2F2"/>
                </a:solidFill>
              </a:rPr>
              <a:t>1</a:t>
            </a:r>
            <a:endParaRPr lang="en-US" sz="784" dirty="0"/>
          </a:p>
        </p:txBody>
      </p:sp>
      <p:sp>
        <p:nvSpPr>
          <p:cNvPr id="9" name="Text 6"/>
          <p:cNvSpPr/>
          <p:nvPr/>
        </p:nvSpPr>
        <p:spPr>
          <a:xfrm>
            <a:off x="892969" y="2826358"/>
            <a:ext cx="3607594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333333"/>
                </a:solidFill>
              </a:rPr>
              <a:t>Prepare:</a:t>
            </a:r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 AI identifies intent (e.g., "last 5 deployments") and </a:t>
            </a:r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extracts slots like app name and environment.</a:t>
            </a:r>
            <a:endParaRPr lang="en-US" sz="885" dirty="0"/>
          </a:p>
        </p:txBody>
      </p:sp>
      <p:sp>
        <p:nvSpPr>
          <p:cNvPr id="10" name="Shape 7"/>
          <p:cNvSpPr/>
          <p:nvPr/>
        </p:nvSpPr>
        <p:spPr>
          <a:xfrm>
            <a:off x="571500" y="3329267"/>
            <a:ext cx="214313" cy="21431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1" name="Text 8"/>
          <p:cNvSpPr/>
          <p:nvPr/>
        </p:nvSpPr>
        <p:spPr>
          <a:xfrm>
            <a:off x="571500" y="3329267"/>
            <a:ext cx="214313" cy="21431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2F2F2"/>
                </a:solidFill>
              </a:rPr>
              <a:t>2</a:t>
            </a:r>
            <a:endParaRPr lang="en-US" sz="784" dirty="0"/>
          </a:p>
        </p:txBody>
      </p:sp>
      <p:sp>
        <p:nvSpPr>
          <p:cNvPr id="12" name="Text 9"/>
          <p:cNvSpPr/>
          <p:nvPr/>
        </p:nvSpPr>
        <p:spPr>
          <a:xfrm>
            <a:off x="892969" y="3329267"/>
            <a:ext cx="3607594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333333"/>
                </a:solidFill>
              </a:rPr>
              <a:t>Execute:</a:t>
            </a:r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 The system generates optimized SQL based on </a:t>
            </a:r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the schema and returns formatted results instantly.</a:t>
            </a:r>
            <a:endParaRPr lang="en-US" sz="885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6344" y="1169789"/>
            <a:ext cx="3571875" cy="2857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1253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Intelligent Caching Drives High-Performance Data Access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571500" y="1198364"/>
            <a:ext cx="385762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52CC"/>
                </a:solidFill>
              </a:rPr>
              <a:t>Step 1</a:t>
            </a:r>
            <a:endParaRPr lang="en-US" sz="683" dirty="0"/>
          </a:p>
        </p:txBody>
      </p:sp>
      <p:sp>
        <p:nvSpPr>
          <p:cNvPr id="5" name="Text 2"/>
          <p:cNvSpPr/>
          <p:nvPr/>
        </p:nvSpPr>
        <p:spPr>
          <a:xfrm>
            <a:off x="571500" y="1405533"/>
            <a:ext cx="385762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33333"/>
                </a:solidFill>
              </a:rPr>
              <a:t>Prepare Phase</a:t>
            </a:r>
            <a:endParaRPr lang="en-US" sz="1193" dirty="0"/>
          </a:p>
        </p:txBody>
      </p:sp>
      <p:sp>
        <p:nvSpPr>
          <p:cNvPr id="6" name="Text 3"/>
          <p:cNvSpPr/>
          <p:nvPr/>
        </p:nvSpPr>
        <p:spPr>
          <a:xfrm>
            <a:off x="571500" y="1746647"/>
            <a:ext cx="3857625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The system identifies user intent and extracts parameters (slots). It checks the intelligent cache for existing query patterns to avoid redundant LLM calls.</a:t>
            </a:r>
            <a:endParaRPr lang="en-US" sz="942" dirty="0"/>
          </a:p>
        </p:txBody>
      </p:sp>
      <p:sp>
        <p:nvSpPr>
          <p:cNvPr id="7" name="Text 4"/>
          <p:cNvSpPr/>
          <p:nvPr/>
        </p:nvSpPr>
        <p:spPr>
          <a:xfrm>
            <a:off x="4714875" y="1198364"/>
            <a:ext cx="385762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52CC"/>
                </a:solidFill>
              </a:rPr>
              <a:t>Step 2</a:t>
            </a:r>
            <a:endParaRPr lang="en-US" sz="683" dirty="0"/>
          </a:p>
        </p:txBody>
      </p:sp>
      <p:sp>
        <p:nvSpPr>
          <p:cNvPr id="8" name="Text 5"/>
          <p:cNvSpPr/>
          <p:nvPr/>
        </p:nvSpPr>
        <p:spPr>
          <a:xfrm>
            <a:off x="4714875" y="1405533"/>
            <a:ext cx="385762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333333"/>
                </a:solidFill>
              </a:rPr>
              <a:t>Execute Phase</a:t>
            </a:r>
            <a:endParaRPr lang="en-US" sz="1193" dirty="0"/>
          </a:p>
        </p:txBody>
      </p:sp>
      <p:sp>
        <p:nvSpPr>
          <p:cNvPr id="9" name="Text 6"/>
          <p:cNvSpPr/>
          <p:nvPr/>
        </p:nvSpPr>
        <p:spPr>
          <a:xfrm>
            <a:off x="4714875" y="1746647"/>
            <a:ext cx="3857625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If a cache miss occurs, optimized SQL is generated based on the schema. Verified results are then returned and stored in the cache for future instant access.</a:t>
            </a:r>
            <a:endParaRPr lang="en-US" sz="942" dirty="0"/>
          </a:p>
        </p:txBody>
      </p:sp>
      <p:sp>
        <p:nvSpPr>
          <p:cNvPr id="10" name="Shape 7"/>
          <p:cNvSpPr/>
          <p:nvPr/>
        </p:nvSpPr>
        <p:spPr>
          <a:xfrm>
            <a:off x="571500" y="2682478"/>
            <a:ext cx="8001000" cy="150375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8"/>
          <p:cNvSpPr/>
          <p:nvPr/>
        </p:nvSpPr>
        <p:spPr>
          <a:xfrm>
            <a:off x="571500" y="2682478"/>
            <a:ext cx="1785938" cy="3571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2" name="Text 9"/>
          <p:cNvSpPr/>
          <p:nvPr/>
        </p:nvSpPr>
        <p:spPr>
          <a:xfrm>
            <a:off x="571500" y="2682478"/>
            <a:ext cx="1785938" cy="357188"/>
          </a:xfrm>
          <a:prstGeom prst="rect">
            <a:avLst/>
          </a:prstGeom>
          <a:noFill/>
          <a:ln/>
        </p:spPr>
        <p:txBody>
          <a:bodyPr wrap="square" lIns="170053" tIns="127508" rIns="0" bIns="0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2F2F2"/>
                </a:solidFill>
              </a:rPr>
              <a:t>Performance Metric</a:t>
            </a:r>
            <a:endParaRPr lang="en-US" sz="784" dirty="0"/>
          </a:p>
        </p:txBody>
      </p:sp>
      <p:sp>
        <p:nvSpPr>
          <p:cNvPr id="13" name="Shape 10"/>
          <p:cNvSpPr/>
          <p:nvPr/>
        </p:nvSpPr>
        <p:spPr>
          <a:xfrm>
            <a:off x="2357438" y="2682478"/>
            <a:ext cx="1352931" cy="3571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4" name="Text 11"/>
          <p:cNvSpPr/>
          <p:nvPr/>
        </p:nvSpPr>
        <p:spPr>
          <a:xfrm>
            <a:off x="2357438" y="2682478"/>
            <a:ext cx="1352931" cy="357188"/>
          </a:xfrm>
          <a:prstGeom prst="rect">
            <a:avLst/>
          </a:prstGeom>
          <a:noFill/>
          <a:ln/>
        </p:spPr>
        <p:txBody>
          <a:bodyPr wrap="square" lIns="170053" tIns="127508" rIns="0" bIns="0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2F2F2"/>
                </a:solidFill>
              </a:rPr>
              <a:t>Cache Hit</a:t>
            </a:r>
            <a:endParaRPr lang="en-US" sz="784" dirty="0"/>
          </a:p>
        </p:txBody>
      </p:sp>
      <p:sp>
        <p:nvSpPr>
          <p:cNvPr id="15" name="Shape 12"/>
          <p:cNvSpPr/>
          <p:nvPr/>
        </p:nvSpPr>
        <p:spPr>
          <a:xfrm>
            <a:off x="3710369" y="2682478"/>
            <a:ext cx="2415843" cy="3571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6" name="Text 13"/>
          <p:cNvSpPr/>
          <p:nvPr/>
        </p:nvSpPr>
        <p:spPr>
          <a:xfrm>
            <a:off x="3710369" y="2682478"/>
            <a:ext cx="2415843" cy="357188"/>
          </a:xfrm>
          <a:prstGeom prst="rect">
            <a:avLst/>
          </a:prstGeom>
          <a:noFill/>
          <a:ln/>
        </p:spPr>
        <p:txBody>
          <a:bodyPr wrap="square" lIns="170053" tIns="127508" rIns="0" bIns="0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2F2F2"/>
                </a:solidFill>
              </a:rPr>
              <a:t>Cache Miss</a:t>
            </a:r>
            <a:endParaRPr lang="en-US" sz="784" dirty="0"/>
          </a:p>
        </p:txBody>
      </p:sp>
      <p:sp>
        <p:nvSpPr>
          <p:cNvPr id="17" name="Shape 14"/>
          <p:cNvSpPr/>
          <p:nvPr/>
        </p:nvSpPr>
        <p:spPr>
          <a:xfrm>
            <a:off x="6126212" y="2682478"/>
            <a:ext cx="2446288" cy="357188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8" name="Text 15"/>
          <p:cNvSpPr/>
          <p:nvPr/>
        </p:nvSpPr>
        <p:spPr>
          <a:xfrm>
            <a:off x="6126212" y="2682478"/>
            <a:ext cx="2446288" cy="357188"/>
          </a:xfrm>
          <a:prstGeom prst="rect">
            <a:avLst/>
          </a:prstGeom>
          <a:noFill/>
          <a:ln/>
        </p:spPr>
        <p:txBody>
          <a:bodyPr wrap="square" lIns="170053" tIns="127508" rIns="0" bIns="0" rtlCol="0" anchor="ctr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dirty="0">
                <a:solidFill>
                  <a:srgbClr val="F2F2F2"/>
                </a:solidFill>
              </a:rPr>
              <a:t>Accuracy</a:t>
            </a:r>
            <a:endParaRPr lang="en-US" sz="784" dirty="0"/>
          </a:p>
        </p:txBody>
      </p:sp>
      <p:sp>
        <p:nvSpPr>
          <p:cNvPr id="19" name="Text 16"/>
          <p:cNvSpPr/>
          <p:nvPr/>
        </p:nvSpPr>
        <p:spPr>
          <a:xfrm>
            <a:off x="571500" y="3039666"/>
            <a:ext cx="1785938" cy="571500"/>
          </a:xfrm>
          <a:prstGeom prst="rect">
            <a:avLst/>
          </a:prstGeom>
          <a:noFill/>
          <a:ln/>
        </p:spPr>
        <p:txBody>
          <a:bodyPr wrap="square" lIns="170053" tIns="170053" rIns="0" bIns="0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52CC"/>
                </a:solidFill>
              </a:rPr>
              <a:t>Response Time</a:t>
            </a:r>
            <a:endParaRPr lang="en-US" sz="885" dirty="0"/>
          </a:p>
        </p:txBody>
      </p:sp>
      <p:sp>
        <p:nvSpPr>
          <p:cNvPr id="20" name="Shape 17"/>
          <p:cNvSpPr/>
          <p:nvPr/>
        </p:nvSpPr>
        <p:spPr>
          <a:xfrm>
            <a:off x="2357438" y="3039666"/>
            <a:ext cx="1352931" cy="5715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21" name="Shape 18"/>
          <p:cNvSpPr/>
          <p:nvPr/>
        </p:nvSpPr>
        <p:spPr>
          <a:xfrm>
            <a:off x="2357438" y="3604022"/>
            <a:ext cx="1352931" cy="714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2" name="Text 19"/>
          <p:cNvSpPr/>
          <p:nvPr/>
        </p:nvSpPr>
        <p:spPr>
          <a:xfrm>
            <a:off x="2357438" y="3039666"/>
            <a:ext cx="1352931" cy="571500"/>
          </a:xfrm>
          <a:prstGeom prst="rect">
            <a:avLst/>
          </a:prstGeom>
          <a:noFill/>
          <a:ln/>
        </p:spPr>
        <p:txBody>
          <a:bodyPr wrap="square" lIns="170053" tIns="170053" rIns="0" bIns="0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</a:rPr>
              <a:t>~50ms</a:t>
            </a:r>
            <a:endParaRPr lang="en-US" sz="885" dirty="0"/>
          </a:p>
        </p:txBody>
      </p:sp>
      <p:sp>
        <p:nvSpPr>
          <p:cNvPr id="23" name="Text 20"/>
          <p:cNvSpPr/>
          <p:nvPr/>
        </p:nvSpPr>
        <p:spPr>
          <a:xfrm>
            <a:off x="3710369" y="3039666"/>
            <a:ext cx="2415843" cy="571500"/>
          </a:xfrm>
          <a:prstGeom prst="rect">
            <a:avLst/>
          </a:prstGeom>
          <a:noFill/>
          <a:ln/>
        </p:spPr>
        <p:txBody>
          <a:bodyPr wrap="square" lIns="170053" tIns="170053" rIns="0" bIns="0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2 - 5 seconds</a:t>
            </a:r>
            <a:endParaRPr lang="en-US" sz="942" dirty="0"/>
          </a:p>
        </p:txBody>
      </p:sp>
      <p:sp>
        <p:nvSpPr>
          <p:cNvPr id="24" name="Text 21"/>
          <p:cNvSpPr/>
          <p:nvPr/>
        </p:nvSpPr>
        <p:spPr>
          <a:xfrm>
            <a:off x="6126212" y="3039666"/>
            <a:ext cx="2446288" cy="571500"/>
          </a:xfrm>
          <a:prstGeom prst="rect">
            <a:avLst/>
          </a:prstGeom>
          <a:noFill/>
          <a:ln/>
        </p:spPr>
        <p:txBody>
          <a:bodyPr wrap="square" lIns="170053" tIns="170053" rIns="0" bIns="0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100% (Verified)</a:t>
            </a:r>
            <a:endParaRPr lang="en-US" sz="942" dirty="0"/>
          </a:p>
        </p:txBody>
      </p:sp>
      <p:sp>
        <p:nvSpPr>
          <p:cNvPr id="25" name="Text 22"/>
          <p:cNvSpPr/>
          <p:nvPr/>
        </p:nvSpPr>
        <p:spPr>
          <a:xfrm>
            <a:off x="571500" y="3611166"/>
            <a:ext cx="1785938" cy="571500"/>
          </a:xfrm>
          <a:prstGeom prst="rect">
            <a:avLst/>
          </a:prstGeom>
          <a:noFill/>
          <a:ln/>
        </p:spPr>
        <p:txBody>
          <a:bodyPr wrap="square" lIns="170053" tIns="170053" rIns="0" bIns="0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0052CC"/>
                </a:solidFill>
              </a:rPr>
              <a:t>LLM Cost</a:t>
            </a:r>
            <a:endParaRPr lang="en-US" sz="885" dirty="0"/>
          </a:p>
        </p:txBody>
      </p:sp>
      <p:sp>
        <p:nvSpPr>
          <p:cNvPr id="26" name="Shape 23"/>
          <p:cNvSpPr/>
          <p:nvPr/>
        </p:nvSpPr>
        <p:spPr>
          <a:xfrm>
            <a:off x="2357438" y="3611166"/>
            <a:ext cx="1352931" cy="571500"/>
          </a:xfrm>
          <a:prstGeom prst="rect">
            <a:avLst/>
          </a:prstGeom>
          <a:solidFill>
            <a:srgbClr val="E6E6E6"/>
          </a:solidFill>
          <a:ln/>
        </p:spPr>
      </p:sp>
      <p:sp>
        <p:nvSpPr>
          <p:cNvPr id="27" name="Shape 24"/>
          <p:cNvSpPr/>
          <p:nvPr/>
        </p:nvSpPr>
        <p:spPr>
          <a:xfrm>
            <a:off x="2357438" y="4175522"/>
            <a:ext cx="1352931" cy="714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28" name="Text 25"/>
          <p:cNvSpPr/>
          <p:nvPr/>
        </p:nvSpPr>
        <p:spPr>
          <a:xfrm>
            <a:off x="2357438" y="3611166"/>
            <a:ext cx="1352931" cy="571500"/>
          </a:xfrm>
          <a:prstGeom prst="rect">
            <a:avLst/>
          </a:prstGeom>
          <a:noFill/>
          <a:ln/>
        </p:spPr>
        <p:txBody>
          <a:bodyPr wrap="square" lIns="170053" tIns="170053" rIns="0" bIns="0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</a:rPr>
              <a:t>$0.00</a:t>
            </a:r>
            <a:endParaRPr lang="en-US" sz="885" dirty="0"/>
          </a:p>
        </p:txBody>
      </p:sp>
      <p:sp>
        <p:nvSpPr>
          <p:cNvPr id="29" name="Text 26"/>
          <p:cNvSpPr/>
          <p:nvPr/>
        </p:nvSpPr>
        <p:spPr>
          <a:xfrm>
            <a:off x="3710369" y="3611166"/>
            <a:ext cx="2415843" cy="571500"/>
          </a:xfrm>
          <a:prstGeom prst="rect">
            <a:avLst/>
          </a:prstGeom>
          <a:noFill/>
          <a:ln/>
        </p:spPr>
        <p:txBody>
          <a:bodyPr wrap="square" lIns="170053" tIns="170053" rIns="0" bIns="0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Minimal (Generation)</a:t>
            </a:r>
            <a:endParaRPr lang="en-US" sz="942" dirty="0"/>
          </a:p>
        </p:txBody>
      </p:sp>
      <p:sp>
        <p:nvSpPr>
          <p:cNvPr id="30" name="Text 27"/>
          <p:cNvSpPr/>
          <p:nvPr/>
        </p:nvSpPr>
        <p:spPr>
          <a:xfrm>
            <a:off x="6126212" y="3611166"/>
            <a:ext cx="2446288" cy="571500"/>
          </a:xfrm>
          <a:prstGeom prst="rect">
            <a:avLst/>
          </a:prstGeom>
          <a:noFill/>
          <a:ln/>
        </p:spPr>
        <p:txBody>
          <a:bodyPr wrap="square" lIns="170053" tIns="170053" rIns="0" bIns="0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High (Schema-Aware)</a:t>
            </a:r>
            <a:endParaRPr lang="en-US" sz="942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1253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Strategic Optimization for Accuracy, Cost, and Speed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571500" y="1369814"/>
            <a:ext cx="242887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A1A"/>
                </a:solidFill>
              </a:rPr>
              <a:t>Accuracy</a:t>
            </a:r>
            <a:endParaRPr lang="en-US" sz="1090" dirty="0"/>
          </a:p>
        </p:txBody>
      </p:sp>
      <p:sp>
        <p:nvSpPr>
          <p:cNvPr id="5" name="Text 2"/>
          <p:cNvSpPr/>
          <p:nvPr/>
        </p:nvSpPr>
        <p:spPr>
          <a:xfrm>
            <a:off x="571500" y="1727002"/>
            <a:ext cx="2428875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Prioritize answer quality and technical depth for complex engineering queries.</a:t>
            </a:r>
            <a:endParaRPr lang="en-US" sz="834" dirty="0"/>
          </a:p>
        </p:txBody>
      </p:sp>
      <p:sp>
        <p:nvSpPr>
          <p:cNvPr id="6" name="Text 3"/>
          <p:cNvSpPr/>
          <p:nvPr/>
        </p:nvSpPr>
        <p:spPr>
          <a:xfrm>
            <a:off x="571500" y="2314184"/>
            <a:ext cx="61249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33333"/>
                </a:solidFill>
              </a:rPr>
              <a:t>Embeddings</a:t>
            </a:r>
            <a:endParaRPr lang="en-US" sz="683" dirty="0"/>
          </a:p>
        </p:txBody>
      </p:sp>
      <p:sp>
        <p:nvSpPr>
          <p:cNvPr id="7" name="Text 4"/>
          <p:cNvSpPr/>
          <p:nvPr/>
        </p:nvSpPr>
        <p:spPr>
          <a:xfrm>
            <a:off x="2558495" y="2314184"/>
            <a:ext cx="441880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0052CC"/>
                </a:solidFill>
              </a:rPr>
              <a:t>3072-dim</a:t>
            </a:r>
            <a:endParaRPr lang="en-US" sz="727" dirty="0"/>
          </a:p>
        </p:txBody>
      </p:sp>
      <p:sp>
        <p:nvSpPr>
          <p:cNvPr id="8" name="Text 5"/>
          <p:cNvSpPr/>
          <p:nvPr/>
        </p:nvSpPr>
        <p:spPr>
          <a:xfrm>
            <a:off x="571500" y="2599934"/>
            <a:ext cx="48237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33333"/>
                </a:solidFill>
              </a:rPr>
              <a:t>Chunking</a:t>
            </a:r>
            <a:endParaRPr lang="en-US" sz="683" dirty="0"/>
          </a:p>
        </p:txBody>
      </p:sp>
      <p:sp>
        <p:nvSpPr>
          <p:cNvPr id="9" name="Text 6"/>
          <p:cNvSpPr/>
          <p:nvPr/>
        </p:nvSpPr>
        <p:spPr>
          <a:xfrm>
            <a:off x="2567704" y="2599934"/>
            <a:ext cx="43267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0052CC"/>
                </a:solidFill>
              </a:rPr>
              <a:t>Semantic</a:t>
            </a:r>
            <a:endParaRPr lang="en-US" sz="727" dirty="0"/>
          </a:p>
        </p:txBody>
      </p:sp>
      <p:sp>
        <p:nvSpPr>
          <p:cNvPr id="10" name="Text 7"/>
          <p:cNvSpPr/>
          <p:nvPr/>
        </p:nvSpPr>
        <p:spPr>
          <a:xfrm>
            <a:off x="571500" y="2885684"/>
            <a:ext cx="20733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33333"/>
                </a:solidFill>
              </a:rPr>
              <a:t>LLM</a:t>
            </a:r>
            <a:endParaRPr lang="en-US" sz="683" dirty="0"/>
          </a:p>
        </p:txBody>
      </p:sp>
      <p:sp>
        <p:nvSpPr>
          <p:cNvPr id="11" name="Text 8"/>
          <p:cNvSpPr/>
          <p:nvPr/>
        </p:nvSpPr>
        <p:spPr>
          <a:xfrm>
            <a:off x="2415983" y="2885684"/>
            <a:ext cx="58439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0052CC"/>
                </a:solidFill>
              </a:rPr>
              <a:t>GPT-4o / Pro</a:t>
            </a:r>
            <a:endParaRPr lang="en-US" sz="727" dirty="0"/>
          </a:p>
        </p:txBody>
      </p:sp>
      <p:sp>
        <p:nvSpPr>
          <p:cNvPr id="12" name="Text 9"/>
          <p:cNvSpPr/>
          <p:nvPr/>
        </p:nvSpPr>
        <p:spPr>
          <a:xfrm>
            <a:off x="3357563" y="1369814"/>
            <a:ext cx="242887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A1A"/>
                </a:solidFill>
              </a:rPr>
              <a:t>Cost</a:t>
            </a:r>
            <a:endParaRPr lang="en-US" sz="1090" dirty="0"/>
          </a:p>
        </p:txBody>
      </p:sp>
      <p:sp>
        <p:nvSpPr>
          <p:cNvPr id="13" name="Text 10"/>
          <p:cNvSpPr/>
          <p:nvPr/>
        </p:nvSpPr>
        <p:spPr>
          <a:xfrm>
            <a:off x="3357563" y="1727002"/>
            <a:ext cx="2428875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Minimize operational expenses while maintaining acceptable quality levels.</a:t>
            </a:r>
            <a:endParaRPr lang="en-US" sz="834" dirty="0"/>
          </a:p>
        </p:txBody>
      </p:sp>
      <p:sp>
        <p:nvSpPr>
          <p:cNvPr id="14" name="Text 11"/>
          <p:cNvSpPr/>
          <p:nvPr/>
        </p:nvSpPr>
        <p:spPr>
          <a:xfrm>
            <a:off x="3357563" y="2314184"/>
            <a:ext cx="61249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33333"/>
                </a:solidFill>
              </a:rPr>
              <a:t>Embeddings</a:t>
            </a:r>
            <a:endParaRPr lang="en-US" sz="683" dirty="0"/>
          </a:p>
        </p:txBody>
      </p:sp>
      <p:sp>
        <p:nvSpPr>
          <p:cNvPr id="15" name="Text 12"/>
          <p:cNvSpPr/>
          <p:nvPr/>
        </p:nvSpPr>
        <p:spPr>
          <a:xfrm>
            <a:off x="5224453" y="2314184"/>
            <a:ext cx="56198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0052CC"/>
                </a:solidFill>
              </a:rPr>
              <a:t>Local (768d)</a:t>
            </a:r>
            <a:endParaRPr lang="en-US" sz="727" dirty="0"/>
          </a:p>
        </p:txBody>
      </p:sp>
      <p:sp>
        <p:nvSpPr>
          <p:cNvPr id="16" name="Text 13"/>
          <p:cNvSpPr/>
          <p:nvPr/>
        </p:nvSpPr>
        <p:spPr>
          <a:xfrm>
            <a:off x="3357563" y="2599934"/>
            <a:ext cx="48237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33333"/>
                </a:solidFill>
              </a:rPr>
              <a:t>Chunking</a:t>
            </a:r>
            <a:endParaRPr lang="en-US" sz="683" dirty="0"/>
          </a:p>
        </p:txBody>
      </p:sp>
      <p:sp>
        <p:nvSpPr>
          <p:cNvPr id="17" name="Text 14"/>
          <p:cNvSpPr/>
          <p:nvPr/>
        </p:nvSpPr>
        <p:spPr>
          <a:xfrm>
            <a:off x="5282273" y="2599934"/>
            <a:ext cx="50416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0052CC"/>
                </a:solidFill>
              </a:rPr>
              <a:t>Fixed (250)</a:t>
            </a:r>
            <a:endParaRPr lang="en-US" sz="727" dirty="0"/>
          </a:p>
        </p:txBody>
      </p:sp>
      <p:sp>
        <p:nvSpPr>
          <p:cNvPr id="18" name="Text 15"/>
          <p:cNvSpPr/>
          <p:nvPr/>
        </p:nvSpPr>
        <p:spPr>
          <a:xfrm>
            <a:off x="3357563" y="2885684"/>
            <a:ext cx="20733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33333"/>
                </a:solidFill>
              </a:rPr>
              <a:t>LLM</a:t>
            </a:r>
            <a:endParaRPr lang="en-US" sz="683" dirty="0"/>
          </a:p>
        </p:txBody>
      </p:sp>
      <p:sp>
        <p:nvSpPr>
          <p:cNvPr id="19" name="Text 16"/>
          <p:cNvSpPr/>
          <p:nvPr/>
        </p:nvSpPr>
        <p:spPr>
          <a:xfrm>
            <a:off x="5118246" y="2885684"/>
            <a:ext cx="66819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0052CC"/>
                </a:solidFill>
              </a:rPr>
              <a:t>Ollama / Flash</a:t>
            </a:r>
            <a:endParaRPr lang="en-US" sz="727" dirty="0"/>
          </a:p>
        </p:txBody>
      </p:sp>
      <p:sp>
        <p:nvSpPr>
          <p:cNvPr id="20" name="Text 17"/>
          <p:cNvSpPr/>
          <p:nvPr/>
        </p:nvSpPr>
        <p:spPr>
          <a:xfrm>
            <a:off x="6143625" y="1369814"/>
            <a:ext cx="2428875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A1A"/>
                </a:solidFill>
              </a:rPr>
              <a:t>Speed</a:t>
            </a:r>
            <a:endParaRPr lang="en-US" sz="1090" dirty="0"/>
          </a:p>
        </p:txBody>
      </p:sp>
      <p:sp>
        <p:nvSpPr>
          <p:cNvPr id="21" name="Text 18"/>
          <p:cNvSpPr/>
          <p:nvPr/>
        </p:nvSpPr>
        <p:spPr>
          <a:xfrm>
            <a:off x="6143625" y="1727002"/>
            <a:ext cx="2428875" cy="365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Optimize for the fastest possible response times in high-frequency environments.</a:t>
            </a:r>
            <a:endParaRPr lang="en-US" sz="834" dirty="0"/>
          </a:p>
        </p:txBody>
      </p:sp>
      <p:sp>
        <p:nvSpPr>
          <p:cNvPr id="22" name="Text 19"/>
          <p:cNvSpPr/>
          <p:nvPr/>
        </p:nvSpPr>
        <p:spPr>
          <a:xfrm>
            <a:off x="6143625" y="2314184"/>
            <a:ext cx="335142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33333"/>
                </a:solidFill>
              </a:rPr>
              <a:t>Search</a:t>
            </a:r>
            <a:endParaRPr lang="en-US" sz="683" dirty="0"/>
          </a:p>
        </p:txBody>
      </p:sp>
      <p:sp>
        <p:nvSpPr>
          <p:cNvPr id="23" name="Text 20"/>
          <p:cNvSpPr/>
          <p:nvPr/>
        </p:nvSpPr>
        <p:spPr>
          <a:xfrm>
            <a:off x="8028124" y="2314184"/>
            <a:ext cx="54437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0052CC"/>
                </a:solidFill>
              </a:rPr>
              <a:t>Pure Vector</a:t>
            </a:r>
            <a:endParaRPr lang="en-US" sz="727" dirty="0"/>
          </a:p>
        </p:txBody>
      </p:sp>
      <p:sp>
        <p:nvSpPr>
          <p:cNvPr id="24" name="Text 21"/>
          <p:cNvSpPr/>
          <p:nvPr/>
        </p:nvSpPr>
        <p:spPr>
          <a:xfrm>
            <a:off x="6143625" y="2599934"/>
            <a:ext cx="393074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33333"/>
                </a:solidFill>
              </a:rPr>
              <a:t>Context</a:t>
            </a:r>
            <a:endParaRPr lang="en-US" sz="683" dirty="0"/>
          </a:p>
        </p:txBody>
      </p:sp>
      <p:sp>
        <p:nvSpPr>
          <p:cNvPr id="25" name="Text 22"/>
          <p:cNvSpPr/>
          <p:nvPr/>
        </p:nvSpPr>
        <p:spPr>
          <a:xfrm>
            <a:off x="7976499" y="2599934"/>
            <a:ext cx="59600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0052CC"/>
                </a:solidFill>
              </a:rPr>
              <a:t>Small (Top 3)</a:t>
            </a:r>
            <a:endParaRPr lang="en-US" sz="727" dirty="0"/>
          </a:p>
        </p:txBody>
      </p:sp>
      <p:sp>
        <p:nvSpPr>
          <p:cNvPr id="26" name="Text 23"/>
          <p:cNvSpPr/>
          <p:nvPr/>
        </p:nvSpPr>
        <p:spPr>
          <a:xfrm>
            <a:off x="6143625" y="2885684"/>
            <a:ext cx="20733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333333"/>
                </a:solidFill>
              </a:rPr>
              <a:t>LLM</a:t>
            </a:r>
            <a:endParaRPr lang="en-US" sz="683" dirty="0"/>
          </a:p>
        </p:txBody>
      </p:sp>
      <p:sp>
        <p:nvSpPr>
          <p:cNvPr id="27" name="Text 24"/>
          <p:cNvSpPr/>
          <p:nvPr/>
        </p:nvSpPr>
        <p:spPr>
          <a:xfrm>
            <a:off x="7960119" y="2885684"/>
            <a:ext cx="612381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0052CC"/>
                </a:solidFill>
              </a:rPr>
              <a:t>Flash Models</a:t>
            </a:r>
            <a:endParaRPr lang="en-US" sz="727" dirty="0"/>
          </a:p>
        </p:txBody>
      </p:sp>
      <p:sp>
        <p:nvSpPr>
          <p:cNvPr id="28" name="Shape 25"/>
          <p:cNvSpPr/>
          <p:nvPr/>
        </p:nvSpPr>
        <p:spPr>
          <a:xfrm>
            <a:off x="571500" y="4286250"/>
            <a:ext cx="8001000" cy="571500"/>
          </a:xfrm>
          <a:prstGeom prst="rect">
            <a:avLst/>
          </a:prstGeom>
          <a:solidFill>
            <a:srgbClr val="FFFFFF"/>
          </a:solidFill>
          <a:ln w="18288">
            <a:solidFill>
              <a:srgbClr val="1A1A1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14375" y="4429125"/>
            <a:ext cx="7715250" cy="3107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4" b="1" spc="1" kern="0" dirty="0">
                <a:solidFill>
                  <a:srgbClr val="333333"/>
                </a:solidFill>
              </a:rPr>
              <a:t>Real-time metrics tracking: Latency, Cost, and User Satisfaction (0-10) are monitored per profile to ensure continuous improvement.</a:t>
            </a:r>
            <a:endParaRPr lang="en-US" sz="784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1253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Real-World Use Cases Enhance Daily Productivity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571500" y="1169789"/>
            <a:ext cx="242887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FF4500"/>
                </a:solidFill>
              </a:rPr>
              <a:t>Scenario A</a:t>
            </a:r>
            <a:endParaRPr lang="en-US" sz="683" dirty="0"/>
          </a:p>
        </p:txBody>
      </p:sp>
      <p:sp>
        <p:nvSpPr>
          <p:cNvPr id="5" name="Text 2"/>
          <p:cNvSpPr/>
          <p:nvPr/>
        </p:nvSpPr>
        <p:spPr>
          <a:xfrm>
            <a:off x="571500" y="1569839"/>
            <a:ext cx="242887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Rapid Developer Onboarding</a:t>
            </a:r>
            <a:endParaRPr lang="en-US" sz="1193" dirty="0"/>
          </a:p>
        </p:txBody>
      </p:sp>
      <p:sp>
        <p:nvSpPr>
          <p:cNvPr id="6" name="Text 3"/>
          <p:cNvSpPr/>
          <p:nvPr/>
        </p:nvSpPr>
        <p:spPr>
          <a:xfrm>
            <a:off x="571500" y="2141339"/>
            <a:ext cx="2428875" cy="731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A new engineer asks: "What is our AKS deployment strategy?" Instead of searching through fragmented wikis, the AI provides the exact documentation instantly.</a:t>
            </a:r>
            <a:endParaRPr lang="en-US" sz="834" dirty="0"/>
          </a:p>
        </p:txBody>
      </p:sp>
      <p:sp>
        <p:nvSpPr>
          <p:cNvPr id="7" name="Shape 4"/>
          <p:cNvSpPr/>
          <p:nvPr/>
        </p:nvSpPr>
        <p:spPr>
          <a:xfrm>
            <a:off x="571500" y="3087105"/>
            <a:ext cx="2428875" cy="5715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8" name="Text 5"/>
          <p:cNvSpPr/>
          <p:nvPr/>
        </p:nvSpPr>
        <p:spPr>
          <a:xfrm>
            <a:off x="678656" y="3194261"/>
            <a:ext cx="221456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52CC"/>
                </a:solidFill>
              </a:rPr>
              <a:t>Primary Tool:</a:t>
            </a:r>
            <a:endParaRPr lang="en-US" sz="683" dirty="0"/>
          </a:p>
        </p:txBody>
      </p:sp>
      <p:sp>
        <p:nvSpPr>
          <p:cNvPr id="9" name="Text 6"/>
          <p:cNvSpPr/>
          <p:nvPr/>
        </p:nvSpPr>
        <p:spPr>
          <a:xfrm>
            <a:off x="678656" y="3365711"/>
            <a:ext cx="128316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2F2F2"/>
                </a:solidFill>
              </a:rPr>
              <a:t>rag-mcp Knowledge Search</a:t>
            </a:r>
            <a:endParaRPr lang="en-US" sz="727" dirty="0"/>
          </a:p>
        </p:txBody>
      </p:sp>
      <p:sp>
        <p:nvSpPr>
          <p:cNvPr id="10" name="Text 7"/>
          <p:cNvSpPr/>
          <p:nvPr/>
        </p:nvSpPr>
        <p:spPr>
          <a:xfrm>
            <a:off x="3357563" y="1169789"/>
            <a:ext cx="242887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FF4500"/>
                </a:solidFill>
              </a:rPr>
              <a:t>Scenario B</a:t>
            </a:r>
            <a:endParaRPr lang="en-US" sz="683" dirty="0"/>
          </a:p>
        </p:txBody>
      </p:sp>
      <p:sp>
        <p:nvSpPr>
          <p:cNvPr id="11" name="Text 8"/>
          <p:cNvSpPr/>
          <p:nvPr/>
        </p:nvSpPr>
        <p:spPr>
          <a:xfrm>
            <a:off x="3357563" y="1569839"/>
            <a:ext cx="242887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Incident Failure Analysis</a:t>
            </a:r>
            <a:endParaRPr lang="en-US" sz="1193" dirty="0"/>
          </a:p>
        </p:txBody>
      </p:sp>
      <p:sp>
        <p:nvSpPr>
          <p:cNvPr id="12" name="Text 9"/>
          <p:cNvSpPr/>
          <p:nvPr/>
        </p:nvSpPr>
        <p:spPr>
          <a:xfrm>
            <a:off x="3357563" y="2141339"/>
            <a:ext cx="2428875" cy="731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A developer needs to know: "Show me the last 5 failures for the API gateway." The AI queries the CI/CD database and returns formatted results in seconds.</a:t>
            </a:r>
            <a:endParaRPr lang="en-US" sz="834" dirty="0"/>
          </a:p>
        </p:txBody>
      </p:sp>
      <p:sp>
        <p:nvSpPr>
          <p:cNvPr id="13" name="Shape 10"/>
          <p:cNvSpPr/>
          <p:nvPr/>
        </p:nvSpPr>
        <p:spPr>
          <a:xfrm>
            <a:off x="3357563" y="3087105"/>
            <a:ext cx="2428875" cy="5715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4" name="Text 11"/>
          <p:cNvSpPr/>
          <p:nvPr/>
        </p:nvSpPr>
        <p:spPr>
          <a:xfrm>
            <a:off x="3464719" y="3194261"/>
            <a:ext cx="221456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52CC"/>
                </a:solidFill>
              </a:rPr>
              <a:t>Primary Tool:</a:t>
            </a:r>
            <a:endParaRPr lang="en-US" sz="683" dirty="0"/>
          </a:p>
        </p:txBody>
      </p:sp>
      <p:sp>
        <p:nvSpPr>
          <p:cNvPr id="15" name="Text 12"/>
          <p:cNvSpPr/>
          <p:nvPr/>
        </p:nvSpPr>
        <p:spPr>
          <a:xfrm>
            <a:off x="3464719" y="3365711"/>
            <a:ext cx="107725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2F2F2"/>
                </a:solidFill>
              </a:rPr>
              <a:t>nl2sql-mcp Data Query</a:t>
            </a:r>
            <a:endParaRPr lang="en-US" sz="727" dirty="0"/>
          </a:p>
        </p:txBody>
      </p:sp>
      <p:sp>
        <p:nvSpPr>
          <p:cNvPr id="16" name="Text 13"/>
          <p:cNvSpPr/>
          <p:nvPr/>
        </p:nvSpPr>
        <p:spPr>
          <a:xfrm>
            <a:off x="6143625" y="1169789"/>
            <a:ext cx="2428875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spc="1" kern="0" dirty="0">
                <a:solidFill>
                  <a:srgbClr val="FF4500"/>
                </a:solidFill>
              </a:rPr>
              <a:t>Scenario C</a:t>
            </a:r>
            <a:endParaRPr lang="en-US" sz="683" dirty="0"/>
          </a:p>
        </p:txBody>
      </p:sp>
      <p:sp>
        <p:nvSpPr>
          <p:cNvPr id="17" name="Text 14"/>
          <p:cNvSpPr/>
          <p:nvPr/>
        </p:nvSpPr>
        <p:spPr>
          <a:xfrm>
            <a:off x="6143625" y="1569839"/>
            <a:ext cx="2428875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1A"/>
                </a:solidFill>
              </a:rPr>
              <a:t>Root Cause Investigation</a:t>
            </a:r>
            <a:endParaRPr lang="en-US" sz="1193" dirty="0"/>
          </a:p>
        </p:txBody>
      </p:sp>
      <p:sp>
        <p:nvSpPr>
          <p:cNvPr id="18" name="Text 15"/>
          <p:cNvSpPr/>
          <p:nvPr/>
        </p:nvSpPr>
        <p:spPr>
          <a:xfrm>
            <a:off x="6143625" y="2141339"/>
            <a:ext cx="2428875" cy="731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3333"/>
                </a:solidFill>
              </a:rPr>
              <a:t>Combining both tools: Find the documentation for a failing service and then query its recent deployment history—all without leaving the chat interface.</a:t>
            </a:r>
            <a:endParaRPr lang="en-US" sz="834" dirty="0"/>
          </a:p>
        </p:txBody>
      </p:sp>
      <p:sp>
        <p:nvSpPr>
          <p:cNvPr id="19" name="Shape 16"/>
          <p:cNvSpPr/>
          <p:nvPr/>
        </p:nvSpPr>
        <p:spPr>
          <a:xfrm>
            <a:off x="6143625" y="3087105"/>
            <a:ext cx="2428875" cy="5715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0" name="Text 17"/>
          <p:cNvSpPr/>
          <p:nvPr/>
        </p:nvSpPr>
        <p:spPr>
          <a:xfrm>
            <a:off x="6250781" y="3194261"/>
            <a:ext cx="2214563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683" b="1" dirty="0">
                <a:solidFill>
                  <a:srgbClr val="0052CC"/>
                </a:solidFill>
              </a:rPr>
              <a:t>Primary Tool:</a:t>
            </a:r>
            <a:endParaRPr lang="en-US" sz="683" dirty="0"/>
          </a:p>
        </p:txBody>
      </p:sp>
      <p:sp>
        <p:nvSpPr>
          <p:cNvPr id="21" name="Text 18"/>
          <p:cNvSpPr/>
          <p:nvPr/>
        </p:nvSpPr>
        <p:spPr>
          <a:xfrm>
            <a:off x="6250781" y="3365711"/>
            <a:ext cx="1102258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F2F2F2"/>
                </a:solidFill>
              </a:rPr>
              <a:t>Unified MCP Ecosystem</a:t>
            </a:r>
            <a:endParaRPr lang="en-US" sz="727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428625"/>
            <a:ext cx="8572500" cy="312539"/>
          </a:xfrm>
          <a:prstGeom prst="rect">
            <a:avLst/>
          </a:prstGeom>
          <a:noFill/>
          <a:ln/>
        </p:spPr>
        <p:txBody>
          <a:bodyPr wrap="none" lIns="170053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1A"/>
                </a:solidFill>
              </a:rPr>
              <a:t>Seamless Deployment and Scalable Integration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571500" y="1169789"/>
            <a:ext cx="370046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spc="1" kern="0" dirty="0">
                <a:solidFill>
                  <a:srgbClr val="0052CC"/>
                </a:solidFill>
              </a:rPr>
              <a:t>Docker-First Deployment</a:t>
            </a:r>
            <a:endParaRPr lang="en-US" sz="1193" dirty="0"/>
          </a:p>
        </p:txBody>
      </p:sp>
      <p:sp>
        <p:nvSpPr>
          <p:cNvPr id="5" name="Text 2"/>
          <p:cNvSpPr/>
          <p:nvPr/>
        </p:nvSpPr>
        <p:spPr>
          <a:xfrm>
            <a:off x="571500" y="1546622"/>
            <a:ext cx="370046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Containerized Architecture</a:t>
            </a:r>
            <a:endParaRPr lang="en-US" sz="987" dirty="0"/>
          </a:p>
        </p:txBody>
      </p:sp>
      <p:sp>
        <p:nvSpPr>
          <p:cNvPr id="6" name="Text 3"/>
          <p:cNvSpPr/>
          <p:nvPr/>
        </p:nvSpPr>
        <p:spPr>
          <a:xfrm>
            <a:off x="571500" y="1812727"/>
            <a:ext cx="3700463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All components—the MCP hub, RAG service, and NL2SQL tool—are fully containerized. This ensures consistent environments from local development to production clusters.</a:t>
            </a:r>
            <a:endParaRPr lang="en-US" sz="942" dirty="0"/>
          </a:p>
        </p:txBody>
      </p:sp>
      <p:sp>
        <p:nvSpPr>
          <p:cNvPr id="7" name="Text 4"/>
          <p:cNvSpPr/>
          <p:nvPr/>
        </p:nvSpPr>
        <p:spPr>
          <a:xfrm>
            <a:off x="571500" y="2715630"/>
            <a:ext cx="370046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Enterprise Scalability</a:t>
            </a:r>
            <a:endParaRPr lang="en-US" sz="987" dirty="0"/>
          </a:p>
        </p:txBody>
      </p:sp>
      <p:sp>
        <p:nvSpPr>
          <p:cNvPr id="8" name="Text 5"/>
          <p:cNvSpPr/>
          <p:nvPr/>
        </p:nvSpPr>
        <p:spPr>
          <a:xfrm>
            <a:off x="571500" y="2981734"/>
            <a:ext cx="3700463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Start with local models (Ollama) for privacy and cost-efficiency, then scale to cloud providers (OpenAI, Gemini, Bedrock) as your team's needs grow.</a:t>
            </a:r>
            <a:endParaRPr lang="en-US" sz="942" dirty="0"/>
          </a:p>
        </p:txBody>
      </p:sp>
      <p:sp>
        <p:nvSpPr>
          <p:cNvPr id="9" name="Text 6"/>
          <p:cNvSpPr/>
          <p:nvPr/>
        </p:nvSpPr>
        <p:spPr>
          <a:xfrm>
            <a:off x="4857750" y="1169789"/>
            <a:ext cx="371475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spc="1" kern="0" dirty="0">
                <a:solidFill>
                  <a:srgbClr val="0052CC"/>
                </a:solidFill>
              </a:rPr>
              <a:t>IDE Integration</a:t>
            </a:r>
            <a:endParaRPr lang="en-US" sz="1193" dirty="0"/>
          </a:p>
        </p:txBody>
      </p:sp>
      <p:sp>
        <p:nvSpPr>
          <p:cNvPr id="10" name="Text 7"/>
          <p:cNvSpPr/>
          <p:nvPr/>
        </p:nvSpPr>
        <p:spPr>
          <a:xfrm>
            <a:off x="4857750" y="1546622"/>
            <a:ext cx="371475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1A"/>
                </a:solidFill>
              </a:rPr>
              <a:t>Supported Environments</a:t>
            </a:r>
            <a:endParaRPr lang="en-US" sz="987" dirty="0"/>
          </a:p>
        </p:txBody>
      </p:sp>
      <p:sp>
        <p:nvSpPr>
          <p:cNvPr id="11" name="Text 8"/>
          <p:cNvSpPr/>
          <p:nvPr/>
        </p:nvSpPr>
        <p:spPr>
          <a:xfrm>
            <a:off x="5029200" y="1875234"/>
            <a:ext cx="54342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885" b="1" dirty="0">
                <a:solidFill>
                  <a:srgbClr val="333333"/>
                </a:solidFill>
              </a:rPr>
              <a:t>VS Code:</a:t>
            </a:r>
            <a:endParaRPr lang="en-US" sz="885" dirty="0"/>
          </a:p>
        </p:txBody>
      </p:sp>
      <p:sp>
        <p:nvSpPr>
          <p:cNvPr id="12" name="Text 9"/>
          <p:cNvSpPr/>
          <p:nvPr/>
        </p:nvSpPr>
        <p:spPr>
          <a:xfrm>
            <a:off x="5572627" y="1875234"/>
            <a:ext cx="1759483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Simple configuration via the</a:t>
            </a:r>
            <a:endParaRPr lang="en-US" sz="942" dirty="0"/>
          </a:p>
        </p:txBody>
      </p:sp>
      <p:sp>
        <p:nvSpPr>
          <p:cNvPr id="13" name="Text 10"/>
          <p:cNvSpPr/>
          <p:nvPr/>
        </p:nvSpPr>
        <p:spPr>
          <a:xfrm>
            <a:off x="7332111" y="1875234"/>
            <a:ext cx="694395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.mcp.json</a:t>
            </a:r>
            <a:endParaRPr lang="en-US" sz="942" dirty="0"/>
          </a:p>
        </p:txBody>
      </p:sp>
      <p:sp>
        <p:nvSpPr>
          <p:cNvPr id="14" name="Text 11"/>
          <p:cNvSpPr/>
          <p:nvPr/>
        </p:nvSpPr>
        <p:spPr>
          <a:xfrm>
            <a:off x="5029200" y="1875234"/>
            <a:ext cx="3359934" cy="4064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file in your workspace root.</a:t>
            </a:r>
            <a:endParaRPr lang="en-US" sz="942" dirty="0"/>
          </a:p>
        </p:txBody>
      </p:sp>
      <p:sp>
        <p:nvSpPr>
          <p:cNvPr id="15" name="Text 12"/>
          <p:cNvSpPr/>
          <p:nvPr/>
        </p:nvSpPr>
        <p:spPr>
          <a:xfrm>
            <a:off x="5029200" y="2445283"/>
            <a:ext cx="463311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885" b="1" dirty="0">
                <a:solidFill>
                  <a:srgbClr val="333333"/>
                </a:solidFill>
              </a:rPr>
              <a:t>Cursor:</a:t>
            </a:r>
            <a:endParaRPr lang="en-US" sz="885" dirty="0"/>
          </a:p>
        </p:txBody>
      </p:sp>
      <p:sp>
        <p:nvSpPr>
          <p:cNvPr id="16" name="Text 13"/>
          <p:cNvSpPr/>
          <p:nvPr/>
        </p:nvSpPr>
        <p:spPr>
          <a:xfrm>
            <a:off x="5029200" y="2445283"/>
            <a:ext cx="3507888" cy="4064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Native, built-in support for MCP servers with zero-config detection.</a:t>
            </a:r>
            <a:endParaRPr lang="en-US" sz="942" dirty="0"/>
          </a:p>
        </p:txBody>
      </p:sp>
      <p:sp>
        <p:nvSpPr>
          <p:cNvPr id="17" name="Text 14"/>
          <p:cNvSpPr/>
          <p:nvPr/>
        </p:nvSpPr>
        <p:spPr>
          <a:xfrm>
            <a:off x="5029200" y="3015332"/>
            <a:ext cx="46320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885" b="1" dirty="0">
                <a:solidFill>
                  <a:srgbClr val="333333"/>
                </a:solidFill>
              </a:rPr>
              <a:t>IntelliJ:</a:t>
            </a:r>
            <a:endParaRPr lang="en-US" sz="885" dirty="0"/>
          </a:p>
        </p:txBody>
      </p:sp>
      <p:sp>
        <p:nvSpPr>
          <p:cNvPr id="18" name="Text 15"/>
          <p:cNvSpPr/>
          <p:nvPr/>
        </p:nvSpPr>
        <p:spPr>
          <a:xfrm>
            <a:off x="5029200" y="3015332"/>
            <a:ext cx="3425233" cy="4064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Compatible via AI assistant plugins like Continue or specialized MCP extensions.</a:t>
            </a:r>
            <a:endParaRPr lang="en-US" sz="942" dirty="0"/>
          </a:p>
        </p:txBody>
      </p:sp>
      <p:sp>
        <p:nvSpPr>
          <p:cNvPr id="19" name="Text 16"/>
          <p:cNvSpPr/>
          <p:nvPr/>
        </p:nvSpPr>
        <p:spPr>
          <a:xfrm>
            <a:off x="4857750" y="3737186"/>
            <a:ext cx="3714750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942" dirty="0">
                <a:solidFill>
                  <a:srgbClr val="333333"/>
                </a:solidFill>
              </a:rPr>
              <a:t>Integration is standardized across editors, providing a unified chat interface for all your documentation and data queries.</a:t>
            </a:r>
            <a:endParaRPr lang="en-US" sz="942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029200" cy="5143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5014913" y="0"/>
            <a:ext cx="14288" cy="514350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571500"/>
            <a:ext cx="4457700" cy="11315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36" b="1" spc="-1" kern="0" dirty="0">
                <a:solidFill>
                  <a:srgbClr val="1A1A1A"/>
                </a:solidFill>
              </a:rPr>
              <a:t>Future-Proofing</a:t>
            </a:r>
            <a:pPr algn="l" indent="0" marL="0">
              <a:lnSpc>
                <a:spcPts val="3000"/>
              </a:lnSpc>
              <a:buNone/>
            </a:pPr>
            <a:r>
              <a:rPr lang="en-US" sz="2436" b="1" spc="-1" kern="0" dirty="0">
                <a:solidFill>
                  <a:srgbClr val="1A1A1A"/>
                </a:solidFill>
              </a:rPr>
              <a:t>
</a:t>
            </a:r>
            <a:pPr algn="l" indent="0" marL="0">
              <a:lnSpc>
                <a:spcPts val="3000"/>
              </a:lnSpc>
              <a:buNone/>
            </a:pPr>
            <a:r>
              <a:rPr lang="en-US" sz="2436" b="1" spc="-1" kern="0" dirty="0">
                <a:solidFill>
                  <a:srgbClr val="1A1A1A"/>
                </a:solidFill>
              </a:rPr>
              <a:t>Development with</a:t>
            </a:r>
            <a:pPr algn="l" indent="0" marL="0">
              <a:lnSpc>
                <a:spcPts val="3000"/>
              </a:lnSpc>
              <a:buNone/>
            </a:pPr>
            <a:r>
              <a:rPr lang="en-US" sz="2436" b="1" spc="-1" kern="0" dirty="0">
                <a:solidFill>
                  <a:srgbClr val="1A1A1A"/>
                </a:solidFill>
              </a:rPr>
              <a:t>
</a:t>
            </a:r>
            <a:pPr algn="l" indent="0" marL="0">
              <a:lnSpc>
                <a:spcPts val="3000"/>
              </a:lnSpc>
              <a:buNone/>
            </a:pPr>
            <a:r>
              <a:rPr lang="en-US" sz="2436" b="1" spc="-1" kern="0" dirty="0">
                <a:solidFill>
                  <a:srgbClr val="1A1A1A"/>
                </a:solidFill>
              </a:rPr>
              <a:t>Open Standards</a:t>
            </a:r>
            <a:endParaRPr lang="en-US" sz="2436" dirty="0"/>
          </a:p>
        </p:txBody>
      </p:sp>
      <p:sp>
        <p:nvSpPr>
          <p:cNvPr id="6" name="Text 3"/>
          <p:cNvSpPr/>
          <p:nvPr/>
        </p:nvSpPr>
        <p:spPr>
          <a:xfrm>
            <a:off x="757238" y="2004826"/>
            <a:ext cx="145034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333333"/>
                </a:solidFill>
              </a:rPr>
              <a:t>Unified Intelligence:</a:t>
            </a:r>
            <a:endParaRPr lang="en-US" sz="987" dirty="0"/>
          </a:p>
        </p:txBody>
      </p:sp>
      <p:sp>
        <p:nvSpPr>
          <p:cNvPr id="7" name="Text 4"/>
          <p:cNvSpPr/>
          <p:nvPr/>
        </p:nvSpPr>
        <p:spPr>
          <a:xfrm>
            <a:off x="757238" y="2004826"/>
            <a:ext cx="4009402" cy="4232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Combine internal documentation and live operational data in a single interface.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757238" y="2547751"/>
            <a:ext cx="1674372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333333"/>
                </a:solidFill>
              </a:rPr>
              <a:t>Developer Productivity:</a:t>
            </a:r>
            <a:endParaRPr lang="en-US" sz="987" dirty="0"/>
          </a:p>
        </p:txBody>
      </p:sp>
      <p:sp>
        <p:nvSpPr>
          <p:cNvPr id="9" name="Text 6"/>
          <p:cNvSpPr/>
          <p:nvPr/>
        </p:nvSpPr>
        <p:spPr>
          <a:xfrm>
            <a:off x="757238" y="2547751"/>
            <a:ext cx="4116698" cy="4232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Drastically reduce context switching and manual information retrieval.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757238" y="3090676"/>
            <a:ext cx="1212317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333333"/>
                </a:solidFill>
              </a:rPr>
              <a:t>Open Ecosystem:</a:t>
            </a:r>
            <a:endParaRPr lang="en-US" sz="987" dirty="0"/>
          </a:p>
        </p:txBody>
      </p:sp>
      <p:sp>
        <p:nvSpPr>
          <p:cNvPr id="11" name="Text 8"/>
          <p:cNvSpPr/>
          <p:nvPr/>
        </p:nvSpPr>
        <p:spPr>
          <a:xfrm>
            <a:off x="757238" y="3090676"/>
            <a:ext cx="4252987" cy="4232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333333"/>
                </a:solidFill>
              </a:rPr>
              <a:t>Built on the Model Context Protocol for long-term compatibility with evolving AI models.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71500" y="3884414"/>
            <a:ext cx="4457700" cy="1116211"/>
          </a:xfrm>
          <a:prstGeom prst="rect">
            <a:avLst/>
          </a:prstGeom>
          <a:solidFill>
            <a:srgbClr val="FF4500"/>
          </a:solidFill>
          <a:ln/>
        </p:spPr>
      </p:sp>
      <p:sp>
        <p:nvSpPr>
          <p:cNvPr id="13" name="Text 10"/>
          <p:cNvSpPr/>
          <p:nvPr/>
        </p:nvSpPr>
        <p:spPr>
          <a:xfrm>
            <a:off x="742950" y="4027289"/>
            <a:ext cx="41148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FFFFFF"/>
                </a:solidFill>
              </a:rPr>
              <a:t>Get Started Today</a:t>
            </a:r>
            <a:endParaRPr lang="en-US" sz="1193" dirty="0"/>
          </a:p>
        </p:txBody>
      </p:sp>
      <p:sp>
        <p:nvSpPr>
          <p:cNvPr id="14" name="Text 11"/>
          <p:cNvSpPr/>
          <p:nvPr/>
        </p:nvSpPr>
        <p:spPr>
          <a:xfrm>
            <a:off x="742950" y="4332684"/>
            <a:ext cx="4114800" cy="5250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</a:rPr>
              <a:t>Clone the repositories, configure your local MCP server, and transform your development workflow with intelligent, context-aware tools.</a:t>
            </a:r>
            <a:endParaRPr lang="en-US" sz="942" dirty="0"/>
          </a:p>
        </p:txBody>
      </p:sp>
      <p:sp>
        <p:nvSpPr>
          <p:cNvPr id="15" name="Shape 12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6413" y="1288080"/>
            <a:ext cx="3000375" cy="2288735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914997" y="3719689"/>
            <a:ext cx="2343206" cy="1357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spc="1" kern="0" dirty="0">
                <a:solidFill>
                  <a:srgbClr val="666666"/>
                </a:solidFill>
              </a:rPr>
              <a:t>The Future of AI-Assisted Development</a:t>
            </a:r>
            <a:endParaRPr lang="en-US" sz="727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2026-01-21T12:12:30Z</dcterms:created>
  <dcterms:modified xsi:type="dcterms:W3CDTF">2026-01-21T12:12:30Z</dcterms:modified>
</cp:coreProperties>
</file>